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4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64008" cy="2560320"/>
          </a:xfrm>
          <a:prstGeom prst="rect">
            <a:avLst/>
          </a:prstGeom>
          <a:solidFill>
            <a:srgbClr val="8FC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Informe Macroeconómico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8FCCCA"/>
                </a:solidFill>
              </a:rPr>
              <a:t>Eco Go Consultores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0D8D7"/>
                </a:solidFill>
              </a:rPr>
              <a:t>09 de june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49884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FCCCA"/>
                </a:solidFill>
              </a:rPr>
              <a:t>Monitor Macroeconómico  ·  Uso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49884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FCCCA"/>
                </a:solidFill>
              </a:rPr>
              <a:t>www.ecogo.com.ar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ECO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"/>
            <a:ext cx="5943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Precios · IPC INDEC y RPM Eco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6576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FCCCA"/>
                </a:solidFill>
              </a:rPr>
              <a:t>09 de june de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2103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50292" cy="804672"/>
          </a:xfrm>
          <a:prstGeom prst="rect">
            <a:avLst/>
          </a:prstGeom>
          <a:solidFill>
            <a:srgbClr val="1B5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49224"/>
            <a:ext cx="193852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E7679"/>
                </a:solidFill>
              </a:rPr>
              <a:t>IPC General m/m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813816"/>
            <a:ext cx="193852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B5F5E"/>
                </a:solidFill>
              </a:rPr>
              <a:t>2,6%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143000"/>
            <a:ext cx="193852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E7679"/>
                </a:solidFill>
              </a:rPr>
              <a:t>i.a.: 32,4%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594360"/>
            <a:ext cx="2103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594360"/>
            <a:ext cx="50292" cy="804672"/>
          </a:xfrm>
          <a:prstGeom prst="rect">
            <a:avLst/>
          </a:prstGeom>
          <a:solidFill>
            <a:srgbClr val="3C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649224"/>
            <a:ext cx="193852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E7679"/>
                </a:solidFill>
              </a:rPr>
              <a:t>Núcleo m/m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813816"/>
            <a:ext cx="193852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B5F5E"/>
                </a:solidFill>
              </a:rPr>
              <a:t>2,3%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1143000"/>
            <a:ext cx="193852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E7679"/>
                </a:solidFill>
              </a:rPr>
              <a:t>i.a.: 32,4%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594360"/>
            <a:ext cx="2103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594360"/>
            <a:ext cx="50292" cy="804672"/>
          </a:xfrm>
          <a:prstGeom prst="rect">
            <a:avLst/>
          </a:prstGeom>
          <a:solidFill>
            <a:srgbClr val="FE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649224"/>
            <a:ext cx="193852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E7679"/>
                </a:solidFill>
              </a:rPr>
              <a:t>Regulados m/m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813816"/>
            <a:ext cx="193852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B5F5E"/>
                </a:solidFill>
              </a:rPr>
              <a:t>4,7%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1143000"/>
            <a:ext cx="193852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E7679"/>
                </a:solidFill>
              </a:rPr>
              <a:t>i.a.: 43,0%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59" y="594360"/>
            <a:ext cx="2103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59" y="594360"/>
            <a:ext cx="50292" cy="804672"/>
          </a:xfrm>
          <a:prstGeom prst="rect">
            <a:avLst/>
          </a:prstGeom>
          <a:solidFill>
            <a:srgbClr val="7E5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649224"/>
            <a:ext cx="193852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E7679"/>
                </a:solidFill>
              </a:rPr>
              <a:t>Estacionales m/m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813816"/>
            <a:ext cx="193852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B5F5E"/>
                </a:solidFill>
              </a:rPr>
              <a:t>-0,0%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1143000"/>
            <a:ext cx="193852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E7679"/>
                </a:solidFill>
              </a:rPr>
              <a:t>i.a.: -96,6%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5486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E7679"/>
                </a:solidFill>
              </a:rPr>
              <a:t>Último dato: Abril 2026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81328"/>
            <a:ext cx="8778240" cy="3429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28600" y="495604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E7679"/>
                </a:solidFill>
              </a:rPr>
              <a:t>Fuente: IPC INDEC · RPM Eco 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ECO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"/>
            <a:ext cx="5943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RPM · Proyección próximo 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6576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FCCCA"/>
                </a:solidFill>
              </a:rPr>
              <a:t>09 de june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486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B5F5E"/>
                </a:solidFill>
              </a:rPr>
              <a:t>Proyección — RPM Eco Go · 2606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868680"/>
          <a:ext cx="87782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554480"/>
                <a:gridCol w="1554480"/>
                <a:gridCol w="1554480"/>
              </a:tblGrid>
              <a:tr h="361603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Capítulo</a:t>
                      </a:r>
                    </a:p>
                  </a:txBody>
                  <a:tcPr>
                    <a:solidFill>
                      <a:srgbClr val="1B5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Mensual</a:t>
                      </a:r>
                    </a:p>
                  </a:txBody>
                  <a:tcPr>
                    <a:solidFill>
                      <a:srgbClr val="1B5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Acumulada</a:t>
                      </a:r>
                    </a:p>
                  </a:txBody>
                  <a:tcPr>
                    <a:solidFill>
                      <a:srgbClr val="1B5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Anual (i.a.)</a:t>
                      </a:r>
                    </a:p>
                  </a:txBody>
                  <a:tcPr>
                    <a:solidFill>
                      <a:srgbClr val="1B5F5E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B5F5E"/>
                          </a:solidFill>
                        </a:rPr>
                        <a:t>NIVEL GENERAL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B5F5E"/>
                          </a:solidFill>
                        </a:rPr>
                        <a:t>1,9%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B5F5E"/>
                          </a:solidFill>
                        </a:rPr>
                        <a:t>16,6%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B5F5E"/>
                          </a:solidFill>
                        </a:rPr>
                        <a:t>34,5%</a:t>
                      </a:r>
                    </a:p>
                  </a:txBody>
                  <a:tcPr>
                    <a:solidFill>
                      <a:srgbClr val="E8F4F4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2526"/>
                          </a:solidFill>
                        </a:rPr>
                        <a:t>Alimentos y Bebidas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1,6%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7,9%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35,8%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2526"/>
                          </a:solidFill>
                        </a:rPr>
                        <a:t>Indumentaria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0,5%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13,4%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22,0%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2526"/>
                          </a:solidFill>
                        </a:rPr>
                        <a:t>Vivienda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1,8%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26,4%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54,7%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2526"/>
                          </a:solidFill>
                        </a:rPr>
                        <a:t>Equip. del Hogar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2,0%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17,6%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23,4%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2526"/>
                          </a:solidFill>
                        </a:rPr>
                        <a:t>Salud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16,4%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28,4%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2526"/>
                          </a:solidFill>
                        </a:rPr>
                        <a:t>Transp.y Comunic.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2,2%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18,1%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38,5%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2526"/>
                          </a:solidFill>
                        </a:rPr>
                        <a:t>Esparcimiento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2,0%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16,2%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34,9%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2526"/>
                          </a:solidFill>
                        </a:rPr>
                        <a:t>Educación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4,0%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25,3%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31,5%</a:t>
                      </a:r>
                    </a:p>
                  </a:txBody>
                  <a:tcPr>
                    <a:solidFill>
                      <a:srgbClr val="F8FAFA"/>
                    </a:solidFill>
                  </a:tcPr>
                </a:tc>
              </a:tr>
              <a:tr h="36160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2526"/>
                          </a:solidFill>
                        </a:rPr>
                        <a:t>Bs. y Ss. Varios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2,0%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13,5%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2526"/>
                          </a:solidFill>
                        </a:rPr>
                        <a:t>31,7%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8600" y="495604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E7679"/>
                </a:solidFill>
              </a:rPr>
              <a:t>Fuente: RPM Eco Go · Cuadro Mensual por Capítulos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ECO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"/>
            <a:ext cx="5943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Actividad Económica · EsAE Eco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6576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FCCCA"/>
                </a:solidFill>
              </a:rPr>
              <a:t>09 de june de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50292" cy="804672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49224"/>
            <a:ext cx="4041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E7679"/>
                </a:solidFill>
              </a:rPr>
              <a:t>EsAE · Var. i.a. (mar-26)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813816"/>
            <a:ext cx="40416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B5F5E"/>
                </a:solidFill>
              </a:rPr>
              <a:t>+5,48%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143000"/>
            <a:ext cx="4041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E7679"/>
                </a:solidFill>
              </a:rPr>
              <a:t>vs. mismo mes año anterior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94360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594360"/>
            <a:ext cx="50292" cy="804672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649224"/>
            <a:ext cx="4041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E7679"/>
                </a:solidFill>
              </a:rPr>
              <a:t>EsAE · Var. m/m desest. (mar-26)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813816"/>
            <a:ext cx="40416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B5F5E"/>
                </a:solidFill>
              </a:rPr>
              <a:t>+3,48%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1143000"/>
            <a:ext cx="4041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E7679"/>
                </a:solidFill>
              </a:rPr>
              <a:t>vs. mes anterior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08760"/>
            <a:ext cx="8778240" cy="34015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" y="495604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E7679"/>
                </a:solidFill>
              </a:rPr>
              <a:t>Fuente: INDEC / EsAE Eco Go · Base 2004=100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ECO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"/>
            <a:ext cx="5943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Reservas · Banco Central de la República Argentina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6576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FCCCA"/>
                </a:solidFill>
              </a:rPr>
              <a:t>09 de june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486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E7679"/>
                </a:solidFill>
              </a:rPr>
              <a:t>Último dato RIN: 08/jun-26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20116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594360"/>
            <a:ext cx="50292" cy="804672"/>
          </a:xfrm>
          <a:prstGeom prst="rect">
            <a:avLst/>
          </a:prstGeom>
          <a:solidFill>
            <a:srgbClr val="1B5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649224"/>
            <a:ext cx="18470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E7679"/>
                </a:solidFill>
              </a:rPr>
              <a:t>Reservas Brutas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813816"/>
            <a:ext cx="18470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B5F5E"/>
                </a:solidFill>
              </a:rPr>
              <a:t>USD 47.798M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94360"/>
            <a:ext cx="20116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594360"/>
            <a:ext cx="50292" cy="804672"/>
          </a:xfrm>
          <a:prstGeom prst="rect">
            <a:avLst/>
          </a:prstGeom>
          <a:solidFill>
            <a:srgbClr val="3C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649224"/>
            <a:ext cx="18470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E7679"/>
                </a:solidFill>
              </a:rPr>
              <a:t>Reservas Líquidas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813816"/>
            <a:ext cx="18470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B5F5E"/>
                </a:solidFill>
              </a:rPr>
              <a:t>USD 17.965M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594360"/>
            <a:ext cx="20116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594360"/>
            <a:ext cx="50292" cy="804672"/>
          </a:xfrm>
          <a:prstGeom prst="rect">
            <a:avLst/>
          </a:prstGeom>
          <a:solidFill>
            <a:srgbClr val="7E5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649224"/>
            <a:ext cx="18470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E7679"/>
                </a:solidFill>
              </a:rPr>
              <a:t>Reservas Netas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813816"/>
            <a:ext cx="18470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B5F5E"/>
                </a:solidFill>
              </a:rPr>
              <a:t>USD 13.534M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594360"/>
            <a:ext cx="20116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594360"/>
            <a:ext cx="50292" cy="804672"/>
          </a:xfrm>
          <a:prstGeom prst="rect">
            <a:avLst/>
          </a:prstGeom>
          <a:solidFill>
            <a:srgbClr val="FE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649224"/>
            <a:ext cx="18470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E7679"/>
                </a:solidFill>
              </a:rPr>
              <a:t>RIN Gob. Nac.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813816"/>
            <a:ext cx="18470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B5F5E"/>
                </a:solidFill>
              </a:rPr>
              <a:t>USD 19.248M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08760"/>
            <a:ext cx="8778240" cy="34015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8600" y="495604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E7679"/>
                </a:solidFill>
              </a:rPr>
              <a:t>Fuente: Banco Central de la República Argentina · datos al último disponible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4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645920"/>
            <a:ext cx="64008" cy="1828800"/>
          </a:xfrm>
          <a:prstGeom prst="rect">
            <a:avLst/>
          </a:prstGeom>
          <a:solidFill>
            <a:srgbClr val="8FC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Eco Go Consultores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8FCCCA"/>
                </a:solidFill>
              </a:rPr>
              <a:t>Liderando el asesoramiento económico desde 2005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0D8D7"/>
                </a:solidFill>
              </a:rPr>
              <a:t>www.ecogo.com.ar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8FCCCA"/>
                </a:solidFill>
              </a:rPr>
              <a:t>Este informe es de uso confidencial y exclusivo para el destinatario. Eco Go no se responsabiliza por el uso de esta información por parte de terceros.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